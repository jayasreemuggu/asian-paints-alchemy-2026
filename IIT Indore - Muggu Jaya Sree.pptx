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66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9B49"/>
    <a:srgbClr val="FFCCFF"/>
    <a:srgbClr val="E6D5EF"/>
    <a:srgbClr val="DBC3E9"/>
    <a:srgbClr val="CC66FF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IN"/>
              <a:t>Interior vs Exterior Stain Removal Performance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Sheet5!$B$1</c:f>
              <c:strCache>
                <c:ptCount val="1"/>
                <c:pt idx="0">
                  <c:v>Interior Stains (%)</c:v>
                </c:pt>
              </c:strCache>
            </c:strRef>
          </c:tx>
          <c:spPr>
            <a:solidFill>
              <a:schemeClr val="accent4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Sheet5!$A$2:$A$4</c:f>
              <c:strCache>
                <c:ptCount val="3"/>
                <c:pt idx="0">
                  <c:v>Standard Acrylic</c:v>
                </c:pt>
                <c:pt idx="1">
                  <c:v>Silicone Paint</c:v>
                </c:pt>
                <c:pt idx="2">
                  <c:v>CASRE (Target)</c:v>
                </c:pt>
              </c:strCache>
            </c:strRef>
          </c:cat>
          <c:val>
            <c:numRef>
              <c:f>Sheet5!$B$2:$B$4</c:f>
              <c:numCache>
                <c:formatCode>General</c:formatCode>
                <c:ptCount val="3"/>
                <c:pt idx="0">
                  <c:v>65</c:v>
                </c:pt>
                <c:pt idx="1">
                  <c:v>78</c:v>
                </c:pt>
                <c:pt idx="2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97-4EB9-8D2F-9F0E91DAC47B}"/>
            </c:ext>
          </c:extLst>
        </c:ser>
        <c:ser>
          <c:idx val="1"/>
          <c:order val="1"/>
          <c:tx>
            <c:strRef>
              <c:f>Sheet5!$C$1</c:f>
              <c:strCache>
                <c:ptCount val="1"/>
                <c:pt idx="0">
                  <c:v>Exterior Stains (%)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Sheet5!$A$2:$A$4</c:f>
              <c:strCache>
                <c:ptCount val="3"/>
                <c:pt idx="0">
                  <c:v>Standard Acrylic</c:v>
                </c:pt>
                <c:pt idx="1">
                  <c:v>Silicone Paint</c:v>
                </c:pt>
                <c:pt idx="2">
                  <c:v>CASRE (Target)</c:v>
                </c:pt>
              </c:strCache>
            </c:strRef>
          </c:cat>
          <c:val>
            <c:numRef>
              <c:f>Sheet5!$C$2:$C$4</c:f>
              <c:numCache>
                <c:formatCode>General</c:formatCode>
                <c:ptCount val="3"/>
                <c:pt idx="0">
                  <c:v>60</c:v>
                </c:pt>
                <c:pt idx="1">
                  <c:v>82</c:v>
                </c:pt>
                <c:pt idx="2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E97-4EB9-8D2F-9F0E91DAC4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89450144"/>
        <c:axId val="489450624"/>
      </c:barChart>
      <c:catAx>
        <c:axId val="489450144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IN" sz="1000" b="0" i="0" u="none" strike="noStrike" baseline="0"/>
                  <a:t>Coating Type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489450624"/>
        <c:crosses val="autoZero"/>
        <c:auto val="1"/>
        <c:lblAlgn val="ctr"/>
        <c:lblOffset val="100"/>
        <c:noMultiLvlLbl val="0"/>
      </c:catAx>
      <c:valAx>
        <c:axId val="4894506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IN" sz="1000" b="0" i="0" u="none" strike="noStrike" baseline="0"/>
                  <a:t>Average Visible Stain Removal (%)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489450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r>
              <a:rPr lang="en-US" sz="1200" b="1" dirty="0">
                <a:solidFill>
                  <a:schemeClr val="tx2">
                    <a:lumMod val="10000"/>
                  </a:schemeClr>
                </a:solidFill>
              </a:rPr>
              <a:t>Scrub</a:t>
            </a:r>
            <a:r>
              <a:rPr lang="en-US" sz="1200" dirty="0">
                <a:solidFill>
                  <a:schemeClr val="tx2">
                    <a:lumMod val="10000"/>
                  </a:schemeClr>
                </a:solidFill>
              </a:rPr>
              <a:t> </a:t>
            </a:r>
            <a:r>
              <a:rPr lang="en-US" sz="1200" b="1" i="0" baseline="0" dirty="0">
                <a:solidFill>
                  <a:schemeClr val="tx2">
                    <a:lumMod val="10000"/>
                  </a:schemeClr>
                </a:solidFill>
              </a:rPr>
              <a:t>Cycles</a:t>
            </a:r>
          </a:p>
        </c:rich>
      </c:tx>
      <c:layout>
        <c:manualLayout>
          <c:xMode val="edge"/>
          <c:yMode val="edge"/>
          <c:x val="0.44802336239555285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0920074204073716"/>
          <c:y val="8.8103156543555647E-2"/>
          <c:w val="0.74709643714082818"/>
          <c:h val="0.72427391963716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Scrub Cycles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Standard Acrylic</c:v>
                </c:pt>
                <c:pt idx="1">
                  <c:v>Premium Acrylic</c:v>
                </c:pt>
                <c:pt idx="2">
                  <c:v>CASRE (Target)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800</c:v>
                </c:pt>
                <c:pt idx="1">
                  <c:v>2000</c:v>
                </c:pt>
                <c:pt idx="2">
                  <c:v>2200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A7-4220-82BE-93123A223E1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322534912"/>
        <c:axId val="322544992"/>
      </c:barChart>
      <c:catAx>
        <c:axId val="3225349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322544992"/>
        <c:crosses val="autoZero"/>
        <c:auto val="1"/>
        <c:lblAlgn val="ctr"/>
        <c:lblOffset val="100"/>
        <c:noMultiLvlLbl val="0"/>
      </c:catAx>
      <c:valAx>
        <c:axId val="322544992"/>
        <c:scaling>
          <c:orientation val="minMax"/>
          <c:max val="25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2">
                        <a:lumMod val="10000"/>
                      </a:schemeClr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pPr>
                <a:r>
                  <a:rPr lang="en-IN" sz="1000" b="1" i="0" u="none" strike="noStrike" baseline="0" dirty="0">
                    <a:solidFill>
                      <a:schemeClr val="tx2">
                        <a:lumMod val="10000"/>
                      </a:schemeClr>
                    </a:solidFill>
                  </a:rPr>
                  <a:t>Scrub Cycles (ASTM D2486)</a:t>
                </a:r>
                <a:endParaRPr lang="en-IN" b="1" i="0" baseline="0" dirty="0">
                  <a:solidFill>
                    <a:schemeClr val="tx2">
                      <a:lumMod val="10000"/>
                    </a:schemeClr>
                  </a:solidFill>
                </a:endParaRPr>
              </a:p>
            </c:rich>
          </c:tx>
          <c:layout>
            <c:manualLayout>
              <c:xMode val="edge"/>
              <c:yMode val="edge"/>
              <c:x val="3.9729837107667858E-2"/>
              <c:y val="7.643386428613104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2">
                      <a:lumMod val="10000"/>
                    </a:schemeClr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en-US"/>
          </a:p>
        </c:txPr>
        <c:crossAx val="322534912"/>
        <c:crosses val="autoZero"/>
        <c:crossBetween val="between"/>
      </c:valAx>
      <c:spPr>
        <a:solidFill>
          <a:schemeClr val="bg1"/>
        </a:solidFill>
        <a:ln w="9525"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aseline="0">
          <a:latin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Relative Cost Index</c:v>
                </c:pt>
              </c:strCache>
            </c:strRef>
          </c:tx>
          <c:spPr>
            <a:solidFill>
              <a:schemeClr val="accent4">
                <a:lumMod val="5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520-4847-8548-9528A7D7CAB4}"/>
              </c:ext>
            </c:extLst>
          </c:dPt>
          <c:cat>
            <c:strRef>
              <c:f>Sheet2!$A$2:$A$3</c:f>
              <c:strCache>
                <c:ptCount val="2"/>
                <c:pt idx="0">
                  <c:v>Standard Acrylic</c:v>
                </c:pt>
                <c:pt idx="1">
                  <c:v>CASRE</c:v>
                </c:pt>
              </c:strCache>
            </c:strRef>
          </c:cat>
          <c:val>
            <c:numRef>
              <c:f>Sheet2!$B$2:$B$3</c:f>
              <c:numCache>
                <c:formatCode>General</c:formatCode>
                <c:ptCount val="2"/>
                <c:pt idx="0">
                  <c:v>100</c:v>
                </c:pt>
                <c:pt idx="1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520-4847-8548-9528A7D7CA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47003168"/>
        <c:axId val="347005568"/>
      </c:barChart>
      <c:catAx>
        <c:axId val="347003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347005568"/>
        <c:crosses val="autoZero"/>
        <c:auto val="1"/>
        <c:lblAlgn val="ctr"/>
        <c:lblOffset val="100"/>
        <c:noMultiLvlLbl val="0"/>
      </c:catAx>
      <c:valAx>
        <c:axId val="347005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IN" sz="1000" b="0" i="0" u="none" strike="noStrike" baseline="0"/>
                  <a:t>Relative Cost Index</a:t>
                </a:r>
                <a:endParaRPr lang="en-IN" b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347003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Sheet3!$B$1</c:f>
              <c:strCache>
                <c:ptCount val="1"/>
                <c:pt idx="0">
                  <c:v>Relative Cost Index</c:v>
                </c:pt>
              </c:strCache>
            </c:strRef>
          </c:tx>
          <c:spPr>
            <a:solidFill>
              <a:schemeClr val="accent4">
                <a:lumMod val="5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2">
                  <a:lumMod val="2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8F9-4BF8-A725-B272A41A135E}"/>
              </c:ext>
            </c:extLst>
          </c:dPt>
          <c:cat>
            <c:strRef>
              <c:f>Sheet3!$A$2:$A$3</c:f>
              <c:strCache>
                <c:ptCount val="2"/>
                <c:pt idx="0">
                  <c:v>Premium Acrylic (Standard)</c:v>
                </c:pt>
                <c:pt idx="1">
                  <c:v>CASRE</c:v>
                </c:pt>
              </c:strCache>
            </c:strRef>
          </c:cat>
          <c:val>
            <c:numRef>
              <c:f>Sheet3!$B$2:$B$3</c:f>
              <c:numCache>
                <c:formatCode>General</c:formatCode>
                <c:ptCount val="2"/>
                <c:pt idx="0">
                  <c:v>100</c:v>
                </c:pt>
                <c:pt idx="1">
                  <c:v>108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F9-4BF8-A725-B272A41A13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87071712"/>
        <c:axId val="487068352"/>
      </c:barChart>
      <c:catAx>
        <c:axId val="487071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487068352"/>
        <c:crosses val="autoZero"/>
        <c:auto val="1"/>
        <c:lblAlgn val="ctr"/>
        <c:lblOffset val="100"/>
        <c:noMultiLvlLbl val="0"/>
      </c:catAx>
      <c:valAx>
        <c:axId val="4870683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sz="1000" b="0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/>
                  <a:t>Relative Cost Index</a:t>
                </a:r>
              </a:p>
              <a:p>
                <a:pPr algn="ctr" rtl="0">
                  <a:defRPr/>
                </a:pP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sz="1000" b="0" i="0" u="none" strike="noStrik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487071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089591c4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089591c4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CF4C0BCC-9B22-C8DA-EBD9-FDFDA3249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089591c40_0_7:notes">
            <a:extLst>
              <a:ext uri="{FF2B5EF4-FFF2-40B4-BE49-F238E27FC236}">
                <a16:creationId xmlns:a16="http://schemas.microsoft.com/office/drawing/2014/main" id="{16E0230F-3192-D9A2-1D0B-0B611864FA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089591c40_0_7:notes">
            <a:extLst>
              <a:ext uri="{FF2B5EF4-FFF2-40B4-BE49-F238E27FC236}">
                <a16:creationId xmlns:a16="http://schemas.microsoft.com/office/drawing/2014/main" id="{A80E51C0-1FD9-FC71-E43D-0D597943D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5469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089591c4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089591c4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28E07602-7C2F-0AEC-3EDE-BCE950F9F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089591c40_0_7:notes">
            <a:extLst>
              <a:ext uri="{FF2B5EF4-FFF2-40B4-BE49-F238E27FC236}">
                <a16:creationId xmlns:a16="http://schemas.microsoft.com/office/drawing/2014/main" id="{5B563B39-B889-3AA8-B4F4-2231ECC936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089591c40_0_7:notes">
            <a:extLst>
              <a:ext uri="{FF2B5EF4-FFF2-40B4-BE49-F238E27FC236}">
                <a16:creationId xmlns:a16="http://schemas.microsoft.com/office/drawing/2014/main" id="{900BA34F-E33F-773B-0366-3A5AA44572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882121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AB475AE0-5483-3026-C187-010C1C4F1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089591c40_0_7:notes">
            <a:extLst>
              <a:ext uri="{FF2B5EF4-FFF2-40B4-BE49-F238E27FC236}">
                <a16:creationId xmlns:a16="http://schemas.microsoft.com/office/drawing/2014/main" id="{4440829E-A20C-F42D-C309-0E05552D9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089591c40_0_7:notes">
            <a:extLst>
              <a:ext uri="{FF2B5EF4-FFF2-40B4-BE49-F238E27FC236}">
                <a16:creationId xmlns:a16="http://schemas.microsoft.com/office/drawing/2014/main" id="{6F31ED51-B1F3-1582-080C-439198C15C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68022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80BEBFF2-4BAA-9CA4-CB70-D2A66A322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089591c40_0_7:notes">
            <a:extLst>
              <a:ext uri="{FF2B5EF4-FFF2-40B4-BE49-F238E27FC236}">
                <a16:creationId xmlns:a16="http://schemas.microsoft.com/office/drawing/2014/main" id="{8E3E2C39-266E-5814-A493-090D5D60FB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089591c40_0_7:notes">
            <a:extLst>
              <a:ext uri="{FF2B5EF4-FFF2-40B4-BE49-F238E27FC236}">
                <a16:creationId xmlns:a16="http://schemas.microsoft.com/office/drawing/2014/main" id="{39DFCB91-8BC1-7E17-CE27-9ABD61CFA3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7606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0F08C885-D912-BD1C-F08A-5605E9EF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089591c40_0_7:notes">
            <a:extLst>
              <a:ext uri="{FF2B5EF4-FFF2-40B4-BE49-F238E27FC236}">
                <a16:creationId xmlns:a16="http://schemas.microsoft.com/office/drawing/2014/main" id="{8A5693DC-244D-76E6-4054-4923AFA622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089591c40_0_7:notes">
            <a:extLst>
              <a:ext uri="{FF2B5EF4-FFF2-40B4-BE49-F238E27FC236}">
                <a16:creationId xmlns:a16="http://schemas.microsoft.com/office/drawing/2014/main" id="{20C0E025-60B9-F1A3-30FE-959E8F640E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534411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08270365-3059-0107-F6AC-F304F70AA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089591c40_0_7:notes">
            <a:extLst>
              <a:ext uri="{FF2B5EF4-FFF2-40B4-BE49-F238E27FC236}">
                <a16:creationId xmlns:a16="http://schemas.microsoft.com/office/drawing/2014/main" id="{F786A9F6-FFEE-BF60-8821-9EB86C36C7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089591c40_0_7:notes">
            <a:extLst>
              <a:ext uri="{FF2B5EF4-FFF2-40B4-BE49-F238E27FC236}">
                <a16:creationId xmlns:a16="http://schemas.microsoft.com/office/drawing/2014/main" id="{AF28BFF0-6A54-8342-2744-454C320120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992154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83D871F3-F7A2-EACE-C511-1D1245B86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089591c40_0_7:notes">
            <a:extLst>
              <a:ext uri="{FF2B5EF4-FFF2-40B4-BE49-F238E27FC236}">
                <a16:creationId xmlns:a16="http://schemas.microsoft.com/office/drawing/2014/main" id="{BF2F20D3-1DA7-DB98-115F-53878C8BC1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089591c40_0_7:notes">
            <a:extLst>
              <a:ext uri="{FF2B5EF4-FFF2-40B4-BE49-F238E27FC236}">
                <a16:creationId xmlns:a16="http://schemas.microsoft.com/office/drawing/2014/main" id="{900801E4-B241-54B1-2481-ED6CAD95B1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61169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6" name="Google Shape;56;p13" title="Submission Template-0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B412432-1578-F58B-067C-273B7E2F1AA8}"/>
              </a:ext>
            </a:extLst>
          </p:cNvPr>
          <p:cNvSpPr txBox="1"/>
          <p:nvPr/>
        </p:nvSpPr>
        <p:spPr>
          <a:xfrm>
            <a:off x="531148" y="2571750"/>
            <a:ext cx="3520440" cy="73866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Muggu Jaya Sree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IIT Indore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Metallurgy and Materials Science Engineering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63" name="Google Shape;63;p14" title="Submission Template-0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713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D58FE7-1D09-4833-1221-74F04F8FF23A}"/>
              </a:ext>
            </a:extLst>
          </p:cNvPr>
          <p:cNvSpPr txBox="1"/>
          <p:nvPr/>
        </p:nvSpPr>
        <p:spPr>
          <a:xfrm>
            <a:off x="631598" y="8854"/>
            <a:ext cx="63450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Uniqueness &amp; Literature Benchmarking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Benchmarking Against Reported Self-Cleaning Systems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B33DD7-343D-CED5-225D-18F7C52381F8}"/>
              </a:ext>
            </a:extLst>
          </p:cNvPr>
          <p:cNvSpPr txBox="1"/>
          <p:nvPr/>
        </p:nvSpPr>
        <p:spPr>
          <a:xfrm>
            <a:off x="824656" y="4534594"/>
            <a:ext cx="92183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Basis:</a:t>
            </a:r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Reported superhydrophobic silica systems, fluoropolymer coatings, TiO₂ photocatalytic coatings, and silicone-modified architectural paints.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D99495-8F46-ECBD-0FB4-82363ADEAA8F}"/>
              </a:ext>
            </a:extLst>
          </p:cNvPr>
          <p:cNvSpPr txBox="1"/>
          <p:nvPr/>
        </p:nvSpPr>
        <p:spPr>
          <a:xfrm>
            <a:off x="661655" y="2981180"/>
            <a:ext cx="425921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Scientific Innovation </a:t>
            </a:r>
          </a:p>
          <a:p>
            <a:endParaRPr lang="en-IN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Reversible Amphiphilic Surface Reconstruction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Dry state: PDMS enrichment → reduced dust adhesion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Wet state: Hydrophilic segment exposure → enhanced stain release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Post-cleaning: Surface re-equilibrates to low-adhesion configuration</a:t>
            </a: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 is 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chemistry-driven and reversible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9261B4-98B3-89EE-E5BE-63661CAB4E85}"/>
              </a:ext>
            </a:extLst>
          </p:cNvPr>
          <p:cNvSpPr txBox="1"/>
          <p:nvPr/>
        </p:nvSpPr>
        <p:spPr>
          <a:xfrm>
            <a:off x="5433827" y="2865199"/>
            <a:ext cx="5237356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Fluorine-free and regulatory-aligned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 &amp; recoatable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Interior + exterior functionality 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Compatible with existing acrylic infrastructure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5B5943-53F5-318D-04FF-5ACE24A9E547}"/>
              </a:ext>
            </a:extLst>
          </p:cNvPr>
          <p:cNvSpPr txBox="1"/>
          <p:nvPr/>
        </p:nvSpPr>
        <p:spPr>
          <a:xfrm>
            <a:off x="5370760" y="3855793"/>
            <a:ext cx="371017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End Use </a:t>
            </a:r>
          </a:p>
          <a:p>
            <a:pPr>
              <a:buNone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Premium architectural coatings for high-traffic interiors and exposed urban facades requiring reduced maintenance cycles.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C725E1B-C061-90C4-246B-F6A8B845A4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266233"/>
              </p:ext>
            </p:extLst>
          </p:nvPr>
        </p:nvGraphicFramePr>
        <p:xfrm>
          <a:off x="310600" y="624993"/>
          <a:ext cx="8654980" cy="196596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163745">
                  <a:extLst>
                    <a:ext uri="{9D8B030D-6E8A-4147-A177-3AD203B41FA5}">
                      <a16:colId xmlns:a16="http://schemas.microsoft.com/office/drawing/2014/main" val="3332785688"/>
                    </a:ext>
                  </a:extLst>
                </a:gridCol>
                <a:gridCol w="2163745">
                  <a:extLst>
                    <a:ext uri="{9D8B030D-6E8A-4147-A177-3AD203B41FA5}">
                      <a16:colId xmlns:a16="http://schemas.microsoft.com/office/drawing/2014/main" val="2031429541"/>
                    </a:ext>
                  </a:extLst>
                </a:gridCol>
                <a:gridCol w="2163745">
                  <a:extLst>
                    <a:ext uri="{9D8B030D-6E8A-4147-A177-3AD203B41FA5}">
                      <a16:colId xmlns:a16="http://schemas.microsoft.com/office/drawing/2014/main" val="4278142581"/>
                    </a:ext>
                  </a:extLst>
                </a:gridCol>
                <a:gridCol w="2163745">
                  <a:extLst>
                    <a:ext uri="{9D8B030D-6E8A-4147-A177-3AD203B41FA5}">
                      <a16:colId xmlns:a16="http://schemas.microsoft.com/office/drawing/2014/main" val="21459353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Mechanism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Limitation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CASRE Differentiation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1546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Superhydrophobic nano-rough coatings</a:t>
                      </a:r>
                      <a:r>
                        <a:rPr lang="en-IN" sz="11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1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(silica/lotus type)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Micro/nano roughness, </a:t>
                      </a:r>
                    </a:p>
                    <a:p>
                      <a:pPr algn="ctr">
                        <a:buNone/>
                      </a:pPr>
                      <a:r>
                        <a:rPr lang="en-US" sz="11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contact angle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Fragile; dust entrapment; </a:t>
                      </a:r>
                    </a:p>
                    <a:p>
                      <a:pPr algn="ctr">
                        <a:buNone/>
                      </a:pPr>
                      <a:r>
                        <a:rPr lang="en-IN" sz="11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poor recoating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Smooth film; no nano-texture; chemistry-driven switching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4764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Fluoropolymer coatings</a:t>
                      </a:r>
                      <a:endParaRPr lang="en-IN" sz="11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Permanent low surface energy (–CF enrichment)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PFAS concerns; high cost; repaint issues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Fluorine-free; acrylic - compatible; regulatory aligned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3022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TiO₂ photocatalytic coatings</a:t>
                      </a:r>
                      <a:endParaRPr lang="en-IN" sz="11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UV-activated degradation, hydrophilicity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UV dependent; weak indoor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Non-photocatalytic; works interior &amp; exterior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6467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Silicone-modified paints</a:t>
                      </a:r>
                      <a:endParaRPr lang="en-IN" sz="11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siloxane surface enrichment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oil/household stain release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dry–wet surface reconstruction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1722796"/>
                  </a:ext>
                </a:extLst>
              </a:tr>
            </a:tbl>
          </a:graphicData>
        </a:graphic>
      </p:graphicFrame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186E7AA-61AE-A751-D8E3-ACB7F63BE450}"/>
              </a:ext>
            </a:extLst>
          </p:cNvPr>
          <p:cNvSpPr/>
          <p:nvPr/>
        </p:nvSpPr>
        <p:spPr>
          <a:xfrm>
            <a:off x="309496" y="2854502"/>
            <a:ext cx="4711309" cy="1714373"/>
          </a:xfrm>
          <a:prstGeom prst="round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594384C-8803-FA54-0DAD-E092E5F28F07}"/>
              </a:ext>
            </a:extLst>
          </p:cNvPr>
          <p:cNvSpPr/>
          <p:nvPr/>
        </p:nvSpPr>
        <p:spPr>
          <a:xfrm>
            <a:off x="5370760" y="2865199"/>
            <a:ext cx="3592614" cy="1703676"/>
          </a:xfrm>
          <a:prstGeom prst="round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highlight>
                <a:srgbClr val="808080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EB08F037-1C14-9B01-783D-65D1F4493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C1762B46-06E0-FE30-8FB3-46A8356BA6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B7EAA0C4-2E4D-CA4B-C9F3-C22AD35D86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70" name="Google Shape;70;p15" title="Submission Template-01.jpg">
            <a:extLst>
              <a:ext uri="{FF2B5EF4-FFF2-40B4-BE49-F238E27FC236}">
                <a16:creationId xmlns:a16="http://schemas.microsoft.com/office/drawing/2014/main" id="{22761DA0-FEB3-6675-9204-5E158F3E954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D7B2A5-85C4-B868-540E-B7BD1D8BABDD}"/>
              </a:ext>
            </a:extLst>
          </p:cNvPr>
          <p:cNvSpPr txBox="1"/>
          <p:nvPr/>
        </p:nvSpPr>
        <p:spPr>
          <a:xfrm>
            <a:off x="1987965" y="125173"/>
            <a:ext cx="56141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Commercial Availability &amp; Practical Differentiation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CDCE5A-BE63-A9A5-49AF-F9731004CFA1}"/>
              </a:ext>
            </a:extLst>
          </p:cNvPr>
          <p:cNvSpPr txBox="1"/>
          <p:nvPr/>
        </p:nvSpPr>
        <p:spPr>
          <a:xfrm>
            <a:off x="4572000" y="573307"/>
            <a:ext cx="41928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CD81E06-1560-01AD-F1C5-723DADC9DF8F}"/>
              </a:ext>
            </a:extLst>
          </p:cNvPr>
          <p:cNvSpPr/>
          <p:nvPr/>
        </p:nvSpPr>
        <p:spPr>
          <a:xfrm>
            <a:off x="311700" y="706244"/>
            <a:ext cx="8520600" cy="4237463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commercial categories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4E38AF0-F1AF-E5C1-4809-A03016BB7089}"/>
              </a:ext>
            </a:extLst>
          </p:cNvPr>
          <p:cNvSpPr/>
          <p:nvPr/>
        </p:nvSpPr>
        <p:spPr>
          <a:xfrm>
            <a:off x="453484" y="814357"/>
            <a:ext cx="4058510" cy="398810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9C24B58-0EB1-FB81-7161-0B0D2C620F11}"/>
              </a:ext>
            </a:extLst>
          </p:cNvPr>
          <p:cNvSpPr/>
          <p:nvPr/>
        </p:nvSpPr>
        <p:spPr>
          <a:xfrm>
            <a:off x="4653776" y="814358"/>
            <a:ext cx="4036741" cy="398810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Maintains tintability, gloss options &amp; ASTM-compliant durability.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3C6B20-D7BC-5249-43FF-DF99CECB2F61}"/>
              </a:ext>
            </a:extLst>
          </p:cNvPr>
          <p:cNvSpPr txBox="1"/>
          <p:nvPr/>
        </p:nvSpPr>
        <p:spPr>
          <a:xfrm>
            <a:off x="513620" y="1605633"/>
            <a:ext cx="20437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Market Categories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Standard acrylic emulsions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Silicone-modified exterior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Premium washable interior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Fluoropolymer Specialty</a:t>
            </a:r>
          </a:p>
          <a:p>
            <a:pPr>
              <a:buNone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F8B19E-86FA-A455-051C-6ECE9100B7B9}"/>
              </a:ext>
            </a:extLst>
          </p:cNvPr>
          <p:cNvSpPr txBox="1"/>
          <p:nvPr/>
        </p:nvSpPr>
        <p:spPr>
          <a:xfrm>
            <a:off x="1195869" y="999618"/>
            <a:ext cx="2573740" cy="30777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commercial categories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EA422F-2D1B-7681-F07A-3F298F4250EA}"/>
              </a:ext>
            </a:extLst>
          </p:cNvPr>
          <p:cNvSpPr txBox="1"/>
          <p:nvPr/>
        </p:nvSpPr>
        <p:spPr>
          <a:xfrm>
            <a:off x="405952" y="2947210"/>
            <a:ext cx="41535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200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CASRE integrates all four functionalities in a single adaptive coating platform.</a:t>
            </a:r>
            <a:r>
              <a:rPr lang="en-IN" sz="1200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98D027-99AC-893D-53FC-72735917387A}"/>
              </a:ext>
            </a:extLst>
          </p:cNvPr>
          <p:cNvSpPr txBox="1"/>
          <p:nvPr/>
        </p:nvSpPr>
        <p:spPr>
          <a:xfrm>
            <a:off x="5469758" y="1036099"/>
            <a:ext cx="2573740" cy="30777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CASRE Differentiation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13A398-43CC-5F9C-2797-734E27AB7639}"/>
              </a:ext>
            </a:extLst>
          </p:cNvPr>
          <p:cNvSpPr txBox="1"/>
          <p:nvPr/>
        </p:nvSpPr>
        <p:spPr>
          <a:xfrm>
            <a:off x="5311639" y="1477651"/>
            <a:ext cx="27135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✓ Broad-spectrum stain resistance</a:t>
            </a: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✓ Fluorine-free &amp; regulatory aligned</a:t>
            </a: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✓ Recoatable smooth film</a:t>
            </a: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✓ Manufacturing compatible</a:t>
            </a:r>
            <a:endParaRPr lang="en-I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59AC1F-003D-68B8-2B46-4055CA682B38}"/>
              </a:ext>
            </a:extLst>
          </p:cNvPr>
          <p:cNvSpPr txBox="1"/>
          <p:nvPr/>
        </p:nvSpPr>
        <p:spPr>
          <a:xfrm>
            <a:off x="5648059" y="2419355"/>
            <a:ext cx="239543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Technical Risks</a:t>
            </a:r>
          </a:p>
          <a:p>
            <a:pPr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 reconstruction rate may vary  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with temperature </a:t>
            </a:r>
          </a:p>
          <a:p>
            <a:pPr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graft-density optimization </a:t>
            </a:r>
          </a:p>
          <a:p>
            <a:pPr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~5–8% raw material premium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0529EDE-396B-EFC9-C123-E40DCE0C87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112" y="3481936"/>
            <a:ext cx="2954075" cy="107922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E33ABB8-6D7D-E9CE-E6F7-3CCBEE69C31F}"/>
              </a:ext>
            </a:extLst>
          </p:cNvPr>
          <p:cNvSpPr txBox="1"/>
          <p:nvPr/>
        </p:nvSpPr>
        <p:spPr>
          <a:xfrm>
            <a:off x="5177410" y="3759939"/>
            <a:ext cx="31584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Maintains tintability, gloss options &amp; ASTM-compliant durability.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D2EE06-D55B-5CB8-AEC5-15B79640DD42}"/>
              </a:ext>
            </a:extLst>
          </p:cNvPr>
          <p:cNvSpPr txBox="1"/>
          <p:nvPr/>
        </p:nvSpPr>
        <p:spPr>
          <a:xfrm>
            <a:off x="2466149" y="1628346"/>
            <a:ext cx="216585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Identified Gap</a:t>
            </a:r>
            <a:b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single system integrates:</a:t>
            </a:r>
            <a:b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Dry dust resistance</a:t>
            </a:r>
            <a:b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Wet-triggered stain release</a:t>
            </a:r>
            <a:b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Fluorine-free chemistry</a:t>
            </a:r>
            <a:b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Smooth </a:t>
            </a:r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recoatable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morphology</a:t>
            </a:r>
          </a:p>
        </p:txBody>
      </p:sp>
    </p:spTree>
    <p:extLst>
      <p:ext uri="{BB962C8B-B14F-4D97-AF65-F5344CB8AC3E}">
        <p14:creationId xmlns:p14="http://schemas.microsoft.com/office/powerpoint/2010/main" val="774485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77" name="Google Shape;77;p16" title="Submission Template-0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C27CD9-5E74-6548-ECBD-4C9DD661B539}"/>
              </a:ext>
            </a:extLst>
          </p:cNvPr>
          <p:cNvSpPr txBox="1"/>
          <p:nvPr/>
        </p:nvSpPr>
        <p:spPr>
          <a:xfrm>
            <a:off x="2479104" y="128114"/>
            <a:ext cx="4669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Stain Resistance Scope – Interior &amp; Exterior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7C75F8-B1B7-2314-BFB8-1934A550DF6C}"/>
              </a:ext>
            </a:extLst>
          </p:cNvPr>
          <p:cNvSpPr txBox="1"/>
          <p:nvPr/>
        </p:nvSpPr>
        <p:spPr>
          <a:xfrm>
            <a:off x="781984" y="880391"/>
            <a:ext cx="3532014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Household Stains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Tea, Coffee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Turmeric, Mustard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Oil / grease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Ketchup / pickle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Crayon / Pencil / marker / pen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59A307-DE0D-E352-6F5C-8BE26C9A217D}"/>
              </a:ext>
            </a:extLst>
          </p:cNvPr>
          <p:cNvSpPr txBox="1"/>
          <p:nvPr/>
        </p:nvSpPr>
        <p:spPr>
          <a:xfrm>
            <a:off x="4991130" y="651256"/>
            <a:ext cx="3164038" cy="33855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Exterior Stains – Self-Clean Mode</a:t>
            </a:r>
          </a:p>
        </p:txBody>
      </p:sp>
      <p:sp>
        <p:nvSpPr>
          <p:cNvPr id="8" name="AutoShape 2" descr="Output image">
            <a:extLst>
              <a:ext uri="{FF2B5EF4-FFF2-40B4-BE49-F238E27FC236}">
                <a16:creationId xmlns:a16="http://schemas.microsoft.com/office/drawing/2014/main" id="{3D586FBA-DC39-F3CA-D979-5FAAEB4C3E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B44178-73F1-D70A-19BF-5DD6055A4095}"/>
              </a:ext>
            </a:extLst>
          </p:cNvPr>
          <p:cNvSpPr txBox="1"/>
          <p:nvPr/>
        </p:nvSpPr>
        <p:spPr>
          <a:xfrm>
            <a:off x="6497856" y="1025751"/>
            <a:ext cx="2710447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Performance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dry dust adhesion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Rain-triggered stain release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permanent staining after rain or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low-pressure water wash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dirt pick-up index compared to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standard acrylic benchmark</a:t>
            </a:r>
            <a:endParaRPr lang="en-IN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46BDF7-FE72-3580-2661-2E79C13CE276}"/>
              </a:ext>
            </a:extLst>
          </p:cNvPr>
          <p:cNvSpPr txBox="1"/>
          <p:nvPr/>
        </p:nvSpPr>
        <p:spPr>
          <a:xfrm>
            <a:off x="455571" y="2369358"/>
            <a:ext cx="2949787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Performance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surface adhesion (dry state)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stain penetration into film matrix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≥85–90% visible stain removal after damp wipe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permanent staining after controlled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cleaning cycles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E39F35-C583-293B-F5E4-7211594F88FB}"/>
              </a:ext>
            </a:extLst>
          </p:cNvPr>
          <p:cNvSpPr txBox="1"/>
          <p:nvPr/>
        </p:nvSpPr>
        <p:spPr>
          <a:xfrm>
            <a:off x="937654" y="3795753"/>
            <a:ext cx="177922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Method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Damp cloth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Mild detergent (if required)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2C0440E-6B91-B61E-C5B6-FF5FBC4A95E9}"/>
              </a:ext>
            </a:extLst>
          </p:cNvPr>
          <p:cNvSpPr/>
          <p:nvPr/>
        </p:nvSpPr>
        <p:spPr>
          <a:xfrm>
            <a:off x="386893" y="994964"/>
            <a:ext cx="2880753" cy="132165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0C96423-0CBB-2659-1DB9-6151E659BEFB}"/>
              </a:ext>
            </a:extLst>
          </p:cNvPr>
          <p:cNvSpPr/>
          <p:nvPr/>
        </p:nvSpPr>
        <p:spPr>
          <a:xfrm>
            <a:off x="386893" y="2369358"/>
            <a:ext cx="2880753" cy="132165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89ACE7A-00FD-6663-51F6-62070E9963EC}"/>
              </a:ext>
            </a:extLst>
          </p:cNvPr>
          <p:cNvSpPr/>
          <p:nvPr/>
        </p:nvSpPr>
        <p:spPr>
          <a:xfrm>
            <a:off x="3821241" y="1017725"/>
            <a:ext cx="2526025" cy="132165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2D069E4-21C3-0C32-FC13-0D45B0F42658}"/>
              </a:ext>
            </a:extLst>
          </p:cNvPr>
          <p:cNvSpPr/>
          <p:nvPr/>
        </p:nvSpPr>
        <p:spPr>
          <a:xfrm>
            <a:off x="6434876" y="1016100"/>
            <a:ext cx="2526025" cy="132165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D488D52-F04A-5597-6558-7CCC25ABB98C}"/>
              </a:ext>
            </a:extLst>
          </p:cNvPr>
          <p:cNvSpPr/>
          <p:nvPr/>
        </p:nvSpPr>
        <p:spPr>
          <a:xfrm>
            <a:off x="386893" y="3750188"/>
            <a:ext cx="2880753" cy="71500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1C5CA1-A820-C638-D25D-ACBE8B754216}"/>
              </a:ext>
            </a:extLst>
          </p:cNvPr>
          <p:cNvSpPr txBox="1"/>
          <p:nvPr/>
        </p:nvSpPr>
        <p:spPr>
          <a:xfrm>
            <a:off x="3918534" y="1052436"/>
            <a:ext cx="2515022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Environmental Contaminants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Dust accumulation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Mud splash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Bird droppings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 soot / pollution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Rust marks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Betel leaf stains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D61B5C-B3D4-361C-7309-B7AC2FE0B5A8}"/>
              </a:ext>
            </a:extLst>
          </p:cNvPr>
          <p:cNvSpPr txBox="1"/>
          <p:nvPr/>
        </p:nvSpPr>
        <p:spPr>
          <a:xfrm>
            <a:off x="183099" y="632196"/>
            <a:ext cx="3305747" cy="33855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Interior Stains – Easy-Clean Mode</a:t>
            </a:r>
          </a:p>
        </p:txBody>
      </p:sp>
      <p:graphicFrame>
        <p:nvGraphicFramePr>
          <p:cNvPr id="32" name="Chart 31">
            <a:extLst>
              <a:ext uri="{FF2B5EF4-FFF2-40B4-BE49-F238E27FC236}">
                <a16:creationId xmlns:a16="http://schemas.microsoft.com/office/drawing/2014/main" id="{A51FE3CC-7EBB-8857-8BA6-4218E2299C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262722"/>
              </p:ext>
            </p:extLst>
          </p:nvPr>
        </p:nvGraphicFramePr>
        <p:xfrm>
          <a:off x="3784748" y="2456433"/>
          <a:ext cx="5203403" cy="24495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96057A1E-0B85-1E4D-3DA8-D46B0CC9A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4CABE58C-A836-A7AD-D75C-55BEC7B337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87AF934B-9E22-8572-AE99-CBA7822D5D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70" name="Google Shape;70;p15" title="Submission Template-01.jpg">
            <a:extLst>
              <a:ext uri="{FF2B5EF4-FFF2-40B4-BE49-F238E27FC236}">
                <a16:creationId xmlns:a16="http://schemas.microsoft.com/office/drawing/2014/main" id="{11AD9E29-2E4A-CB41-E948-79412493A5A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725476-7CFC-5E55-91A5-83BFE43EE8F3}"/>
              </a:ext>
            </a:extLst>
          </p:cNvPr>
          <p:cNvSpPr txBox="1"/>
          <p:nvPr/>
        </p:nvSpPr>
        <p:spPr>
          <a:xfrm>
            <a:off x="6642145" y="3165476"/>
            <a:ext cx="2440285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Amphiphilic acrylic–siloxane adaptive copolymer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Silicone slip modifier (surface release)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Barrier additive (stain penetration resistance)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930689-DF70-C150-EC83-F15F3EDC215D}"/>
              </a:ext>
            </a:extLst>
          </p:cNvPr>
          <p:cNvSpPr txBox="1"/>
          <p:nvPr/>
        </p:nvSpPr>
        <p:spPr>
          <a:xfrm>
            <a:off x="164588" y="3432593"/>
            <a:ext cx="229049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PVC range: 35–45%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Rheology modifier addition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Defoamer addition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UV stabilizer incorporation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Filtration &amp; packaging</a:t>
            </a:r>
          </a:p>
          <a:p>
            <a:pPr>
              <a:buNone/>
            </a:pPr>
            <a:endParaRPr lang="en-I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C4E4C0-FCE2-41A4-CF2B-A4062EE7EFA8}"/>
              </a:ext>
            </a:extLst>
          </p:cNvPr>
          <p:cNvSpPr txBox="1"/>
          <p:nvPr/>
        </p:nvSpPr>
        <p:spPr>
          <a:xfrm>
            <a:off x="6965321" y="543062"/>
            <a:ext cx="211710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PDMS-functional incorporation into acrylic backbone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C239A3-3F60-A2D9-EC1F-4B821A49D35B}"/>
              </a:ext>
            </a:extLst>
          </p:cNvPr>
          <p:cNvSpPr txBox="1"/>
          <p:nvPr/>
        </p:nvSpPr>
        <p:spPr>
          <a:xfrm>
            <a:off x="3771574" y="3526883"/>
            <a:ext cx="2211455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Rutile TiO₂ (opacity &amp; brightness)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Surface-treated </a:t>
            </a:r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CaCO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₃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 treated silica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High-speed disperser for uniform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dispersion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1604D41-AE83-1790-5B82-975A91E68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0226" y="473087"/>
            <a:ext cx="1166652" cy="2082053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FF4BEE8-2BC8-7680-2A6D-ED577412D99C}"/>
              </a:ext>
            </a:extLst>
          </p:cNvPr>
          <p:cNvSpPr txBox="1"/>
          <p:nvPr/>
        </p:nvSpPr>
        <p:spPr>
          <a:xfrm>
            <a:off x="164588" y="1202505"/>
            <a:ext cx="2902661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Polymer Synthesis Stage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Pre-emulsion of BA/MMA monomers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APEO-free surfactant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Seeded emulsion polymerization (70–80°C)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Particle size control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598FE45-CC61-646D-24B6-EC3346BE7BD5}"/>
              </a:ext>
            </a:extLst>
          </p:cNvPr>
          <p:cNvSpPr/>
          <p:nvPr/>
        </p:nvSpPr>
        <p:spPr>
          <a:xfrm>
            <a:off x="4660902" y="578650"/>
            <a:ext cx="2290500" cy="44831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Siloxane Functional Monomer Grafting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153B763-7082-6923-3933-BD694EC8DE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97" y="1056084"/>
            <a:ext cx="2934646" cy="1561998"/>
          </a:xfrm>
          <a:prstGeom prst="rect">
            <a:avLst/>
          </a:prstGeom>
        </p:spPr>
      </p:pic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7A1D9C2-5284-8FCB-E6D7-01B022E69CD3}"/>
              </a:ext>
            </a:extLst>
          </p:cNvPr>
          <p:cNvSpPr/>
          <p:nvPr/>
        </p:nvSpPr>
        <p:spPr>
          <a:xfrm>
            <a:off x="164587" y="2783270"/>
            <a:ext cx="2290500" cy="46445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Processing, Quality Control &amp; Packaging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9EE9F9A-F7B3-00BA-8857-8445F5538521}"/>
              </a:ext>
            </a:extLst>
          </p:cNvPr>
          <p:cNvSpPr/>
          <p:nvPr/>
        </p:nvSpPr>
        <p:spPr>
          <a:xfrm>
            <a:off x="6666865" y="2829682"/>
            <a:ext cx="2290500" cy="44904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Pigment &amp; Filler Dispersion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E6069F1C-00A7-34C6-3BB1-89FA0F00910F}"/>
              </a:ext>
            </a:extLst>
          </p:cNvPr>
          <p:cNvSpPr/>
          <p:nvPr/>
        </p:nvSpPr>
        <p:spPr>
          <a:xfrm>
            <a:off x="3515652" y="2789676"/>
            <a:ext cx="2290500" cy="501784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Additive Incorporation</a:t>
            </a:r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CFE686D7-0108-21F4-1EB7-C5E3B308BB0B}"/>
              </a:ext>
            </a:extLst>
          </p:cNvPr>
          <p:cNvSpPr/>
          <p:nvPr/>
        </p:nvSpPr>
        <p:spPr>
          <a:xfrm rot="16200000">
            <a:off x="4178770" y="571546"/>
            <a:ext cx="249815" cy="462520"/>
          </a:xfrm>
          <a:prstGeom prst="downArrow">
            <a:avLst/>
          </a:prstGeom>
          <a:solidFill>
            <a:schemeClr val="tx2">
              <a:lumMod val="1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47B13691-1EAF-ADDD-ECF4-D1F3D56DD4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9463" y="3291460"/>
            <a:ext cx="1107151" cy="1693964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ACD86A94-E170-3588-0F1F-FB8A1E31C51C}"/>
              </a:ext>
            </a:extLst>
          </p:cNvPr>
          <p:cNvSpPr txBox="1"/>
          <p:nvPr/>
        </p:nvSpPr>
        <p:spPr>
          <a:xfrm>
            <a:off x="2378572" y="44706"/>
            <a:ext cx="45886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Route &amp; Formulation Strategy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2E78F5E-3F70-C415-57C9-0070A63444FB}"/>
              </a:ext>
            </a:extLst>
          </p:cNvPr>
          <p:cNvSpPr/>
          <p:nvPr/>
        </p:nvSpPr>
        <p:spPr>
          <a:xfrm>
            <a:off x="180323" y="510374"/>
            <a:ext cx="2902661" cy="55325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Pre-Emulsion </a:t>
            </a:r>
            <a:r>
              <a:rPr kumimoji="0" lang="en-IN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Preparation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&amp; Seeded Polymerization (70–80°C)</a:t>
            </a:r>
          </a:p>
        </p:txBody>
      </p:sp>
      <p:sp>
        <p:nvSpPr>
          <p:cNvPr id="45" name="Arrow: Down 44">
            <a:extLst>
              <a:ext uri="{FF2B5EF4-FFF2-40B4-BE49-F238E27FC236}">
                <a16:creationId xmlns:a16="http://schemas.microsoft.com/office/drawing/2014/main" id="{917F054E-55B2-D4A6-1AB8-78D11267010D}"/>
              </a:ext>
            </a:extLst>
          </p:cNvPr>
          <p:cNvSpPr/>
          <p:nvPr/>
        </p:nvSpPr>
        <p:spPr>
          <a:xfrm rot="19440906">
            <a:off x="6914962" y="2424604"/>
            <a:ext cx="236185" cy="403330"/>
          </a:xfrm>
          <a:prstGeom prst="downArrow">
            <a:avLst/>
          </a:prstGeom>
          <a:solidFill>
            <a:schemeClr val="tx2">
              <a:lumMod val="1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7" name="Arrow: Down 46">
            <a:extLst>
              <a:ext uri="{FF2B5EF4-FFF2-40B4-BE49-F238E27FC236}">
                <a16:creationId xmlns:a16="http://schemas.microsoft.com/office/drawing/2014/main" id="{F61DB9E1-0516-1BF2-44CD-3A679835B913}"/>
              </a:ext>
            </a:extLst>
          </p:cNvPr>
          <p:cNvSpPr/>
          <p:nvPr/>
        </p:nvSpPr>
        <p:spPr>
          <a:xfrm rot="5400000">
            <a:off x="6111601" y="2809308"/>
            <a:ext cx="249815" cy="462520"/>
          </a:xfrm>
          <a:prstGeom prst="downArrow">
            <a:avLst/>
          </a:prstGeom>
          <a:solidFill>
            <a:schemeClr val="tx2">
              <a:lumMod val="1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8" name="Arrow: Down 47">
            <a:extLst>
              <a:ext uri="{FF2B5EF4-FFF2-40B4-BE49-F238E27FC236}">
                <a16:creationId xmlns:a16="http://schemas.microsoft.com/office/drawing/2014/main" id="{521A4CFB-FAED-6BF1-E18F-293E9AEC15D3}"/>
              </a:ext>
            </a:extLst>
          </p:cNvPr>
          <p:cNvSpPr/>
          <p:nvPr/>
        </p:nvSpPr>
        <p:spPr>
          <a:xfrm rot="5400000">
            <a:off x="2873139" y="2809309"/>
            <a:ext cx="249815" cy="462520"/>
          </a:xfrm>
          <a:prstGeom prst="downArrow">
            <a:avLst/>
          </a:prstGeom>
          <a:solidFill>
            <a:schemeClr val="tx2">
              <a:lumMod val="1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2064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4DF14218-9BF2-B935-C88A-CC3F26CAF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E41D3AAB-7CD1-F8EB-5B4B-8CEB80FC38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04FB58C9-2EA1-1C90-A2F6-B75D44560F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70" name="Google Shape;70;p15" title="Submission Template-01.jpg">
            <a:extLst>
              <a:ext uri="{FF2B5EF4-FFF2-40B4-BE49-F238E27FC236}">
                <a16:creationId xmlns:a16="http://schemas.microsoft.com/office/drawing/2014/main" id="{69C9FA0C-38F7-EBA1-DC94-8BAEFF292A1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5856CE-F414-9541-9F53-B178F0E4DAAB}"/>
              </a:ext>
            </a:extLst>
          </p:cNvPr>
          <p:cNvSpPr txBox="1"/>
          <p:nvPr/>
        </p:nvSpPr>
        <p:spPr>
          <a:xfrm>
            <a:off x="233639" y="739381"/>
            <a:ext cx="3473740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1100" b="1" dirty="0">
              <a:solidFill>
                <a:schemeClr val="tx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1100" b="1" dirty="0">
              <a:solidFill>
                <a:schemeClr val="tx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100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Binder System</a:t>
            </a:r>
            <a:br>
              <a:rPr lang="en-IN" sz="11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1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Water-based acrylic–siloxane hybrid</a:t>
            </a:r>
            <a:br>
              <a:rPr lang="en-IN" sz="11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1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Low VOC formulation</a:t>
            </a:r>
            <a:br>
              <a:rPr lang="en-IN" sz="11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1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Fluorine-free (no PFAS)</a:t>
            </a:r>
          </a:p>
          <a:p>
            <a:pPr>
              <a:buNone/>
            </a:pPr>
            <a:endParaRPr lang="en-IN" sz="1100" dirty="0">
              <a:solidFill>
                <a:schemeClr val="tx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100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Additives</a:t>
            </a:r>
            <a:br>
              <a:rPr lang="en-IN" sz="11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1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Silicone slip modifier – low toxicity grade</a:t>
            </a:r>
            <a:br>
              <a:rPr lang="en-IN" sz="11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1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Barrier additive – non-reactive polymeric additive</a:t>
            </a:r>
            <a:br>
              <a:rPr lang="en-IN" sz="11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1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APEO-free surfactant system</a:t>
            </a:r>
          </a:p>
          <a:p>
            <a:pPr>
              <a:buNone/>
            </a:pPr>
            <a:endParaRPr lang="en-IN" sz="1100" dirty="0">
              <a:solidFill>
                <a:schemeClr val="tx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100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Regulatory Alignment</a:t>
            </a:r>
            <a:br>
              <a:rPr lang="en-IN" sz="11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1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1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Aligned with architectural water-based coating standards</a:t>
            </a:r>
            <a:br>
              <a:rPr lang="en-IN" sz="11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1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No heavy metal pigments</a:t>
            </a:r>
            <a:br>
              <a:rPr lang="en-IN" sz="11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1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Compatible with green building certifications</a:t>
            </a:r>
          </a:p>
          <a:p>
            <a:pPr>
              <a:buNone/>
            </a:pPr>
            <a:endParaRPr lang="en-IN" sz="1100" dirty="0">
              <a:solidFill>
                <a:schemeClr val="tx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100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Handling</a:t>
            </a:r>
            <a:br>
              <a:rPr lang="en-IN" sz="11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1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Non-flammable system</a:t>
            </a:r>
            <a:br>
              <a:rPr lang="en-IN" sz="11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1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Standard PPE (gloves, goggles) sufficient</a:t>
            </a:r>
          </a:p>
          <a:p>
            <a:pPr>
              <a:buNone/>
            </a:pP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46D567-8072-88A1-8109-BD1180940AC5}"/>
              </a:ext>
            </a:extLst>
          </p:cNvPr>
          <p:cNvSpPr txBox="1"/>
          <p:nvPr/>
        </p:nvSpPr>
        <p:spPr>
          <a:xfrm>
            <a:off x="3785442" y="1105650"/>
            <a:ext cx="258416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Conditions</a:t>
            </a:r>
          </a:p>
          <a:p>
            <a:pPr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Store at 5–40°C</a:t>
            </a: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Protect from freezing</a:t>
            </a: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Avoid prolonged direct sunlight</a:t>
            </a: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Shelf life target: 12–18 months</a:t>
            </a: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Maintain sealed containers to prevent</a:t>
            </a:r>
          </a:p>
          <a:p>
            <a:pPr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skin formation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special hazardous transport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requirements</a:t>
            </a:r>
          </a:p>
          <a:p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Compatible with existing paint warehouse infrastructure.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573D6C-8B62-8D1C-EA15-3085FFE7EC8F}"/>
              </a:ext>
            </a:extLst>
          </p:cNvPr>
          <p:cNvSpPr txBox="1"/>
          <p:nvPr/>
        </p:nvSpPr>
        <p:spPr>
          <a:xfrm>
            <a:off x="6455304" y="1102117"/>
            <a:ext cx="274611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 Preparation</a:t>
            </a:r>
            <a:b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Clean, dry, dust-free substrate</a:t>
            </a:r>
            <a:b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Compatible with standard acrylic primer</a:t>
            </a:r>
          </a:p>
          <a:p>
            <a:pPr>
              <a:buNone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Methods</a:t>
            </a:r>
            <a:b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Roller / Brush / Airless spray</a:t>
            </a: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Recommended DFT: 80–120 µm (2 coats)</a:t>
            </a:r>
            <a:endParaRPr lang="en-I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Curing</a:t>
            </a:r>
            <a:b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Ambient cure</a:t>
            </a:r>
            <a:b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Touch dry: 30–60 min</a:t>
            </a:r>
            <a:b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Recoat: 4–6 hrs</a:t>
            </a:r>
          </a:p>
          <a:p>
            <a:pPr>
              <a:buNone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</a:t>
            </a:r>
            <a:b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Water-based clean-up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70344A-B7E8-2D2F-D670-1C7157A434B8}"/>
              </a:ext>
            </a:extLst>
          </p:cNvPr>
          <p:cNvSpPr/>
          <p:nvPr/>
        </p:nvSpPr>
        <p:spPr>
          <a:xfrm>
            <a:off x="259660" y="640452"/>
            <a:ext cx="3447719" cy="42280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61BC2E-9C3D-3106-9544-3B58F487B5E7}"/>
              </a:ext>
            </a:extLst>
          </p:cNvPr>
          <p:cNvSpPr txBox="1"/>
          <p:nvPr/>
        </p:nvSpPr>
        <p:spPr>
          <a:xfrm>
            <a:off x="272671" y="640452"/>
            <a:ext cx="3447719" cy="46166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Material Safety &amp; Regulatory Alignment</a:t>
            </a:r>
          </a:p>
          <a:p>
            <a:pPr algn="ctr">
              <a:buNone/>
            </a:pPr>
            <a:r>
              <a:rPr lang="en-I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 Handling &amp; Compliance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97C553-C7FA-FA03-6F81-B90A2677AB6A}"/>
              </a:ext>
            </a:extLst>
          </p:cNvPr>
          <p:cNvSpPr/>
          <p:nvPr/>
        </p:nvSpPr>
        <p:spPr>
          <a:xfrm>
            <a:off x="3759420" y="640451"/>
            <a:ext cx="2623196" cy="42280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376F5C-A675-B58C-78BD-366391F1E982}"/>
              </a:ext>
            </a:extLst>
          </p:cNvPr>
          <p:cNvSpPr/>
          <p:nvPr/>
        </p:nvSpPr>
        <p:spPr>
          <a:xfrm>
            <a:off x="6436917" y="640452"/>
            <a:ext cx="2652784" cy="42280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4359C8-463D-0510-0847-8CC735B1D34F}"/>
              </a:ext>
            </a:extLst>
          </p:cNvPr>
          <p:cNvSpPr txBox="1"/>
          <p:nvPr/>
        </p:nvSpPr>
        <p:spPr>
          <a:xfrm>
            <a:off x="3780066" y="640452"/>
            <a:ext cx="2623197" cy="492443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 &amp; Stability</a:t>
            </a:r>
          </a:p>
          <a:p>
            <a:pPr algn="ctr">
              <a:buNone/>
            </a:pPr>
            <a:endParaRPr lang="en-IN" sz="1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AA57D5-FA7D-634C-9EB5-27C9914E14C8}"/>
              </a:ext>
            </a:extLst>
          </p:cNvPr>
          <p:cNvSpPr txBox="1"/>
          <p:nvPr/>
        </p:nvSpPr>
        <p:spPr>
          <a:xfrm>
            <a:off x="6434657" y="640451"/>
            <a:ext cx="2652784" cy="492443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Technique </a:t>
            </a:r>
          </a:p>
          <a:p>
            <a:pPr algn="ctr">
              <a:buNone/>
            </a:pPr>
            <a:endParaRPr lang="en-IN" sz="1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A2F9EFB-10D8-F7A8-9E3D-B8DFAD814D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316" y="3310167"/>
            <a:ext cx="2070441" cy="135118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AA428C5-50E7-2E54-7869-31ED00611E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9227" y="3274088"/>
            <a:ext cx="2323582" cy="151907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1731BF0-475E-4137-94CF-6ED808BAB6DE}"/>
              </a:ext>
            </a:extLst>
          </p:cNvPr>
          <p:cNvSpPr txBox="1"/>
          <p:nvPr/>
        </p:nvSpPr>
        <p:spPr>
          <a:xfrm>
            <a:off x="2388612" y="86095"/>
            <a:ext cx="45886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material safety, Storage &amp; Application</a:t>
            </a:r>
          </a:p>
        </p:txBody>
      </p:sp>
    </p:spTree>
    <p:extLst>
      <p:ext uri="{BB962C8B-B14F-4D97-AF65-F5344CB8AC3E}">
        <p14:creationId xmlns:p14="http://schemas.microsoft.com/office/powerpoint/2010/main" val="3438741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EB4DA799-AB91-FDA0-8892-8B3294E97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B4522F83-5861-CA0D-29B7-8A13F24291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2C430361-EBB8-12F9-A8AB-FFED8E9ECE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70" name="Google Shape;70;p15" title="Submission Template-01.jpg">
            <a:extLst>
              <a:ext uri="{FF2B5EF4-FFF2-40B4-BE49-F238E27FC236}">
                <a16:creationId xmlns:a16="http://schemas.microsoft.com/office/drawing/2014/main" id="{70094688-C158-17B2-E2C9-F4DD5125FC2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1A26435-C68B-7838-8847-880334FBAD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689255"/>
              </p:ext>
            </p:extLst>
          </p:nvPr>
        </p:nvGraphicFramePr>
        <p:xfrm>
          <a:off x="216150" y="510875"/>
          <a:ext cx="5515109" cy="2996701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724587">
                  <a:extLst>
                    <a:ext uri="{9D8B030D-6E8A-4147-A177-3AD203B41FA5}">
                      <a16:colId xmlns:a16="http://schemas.microsoft.com/office/drawing/2014/main" val="8126902"/>
                    </a:ext>
                  </a:extLst>
                </a:gridCol>
                <a:gridCol w="1885908">
                  <a:extLst>
                    <a:ext uri="{9D8B030D-6E8A-4147-A177-3AD203B41FA5}">
                      <a16:colId xmlns:a16="http://schemas.microsoft.com/office/drawing/2014/main" val="3800516486"/>
                    </a:ext>
                  </a:extLst>
                </a:gridCol>
                <a:gridCol w="1904614">
                  <a:extLst>
                    <a:ext uri="{9D8B030D-6E8A-4147-A177-3AD203B41FA5}">
                      <a16:colId xmlns:a16="http://schemas.microsoft.com/office/drawing/2014/main" val="648564986"/>
                    </a:ext>
                  </a:extLst>
                </a:gridCol>
              </a:tblGrid>
              <a:tr h="2822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98" marR="90698" marT="45349" marB="4534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Technical Risk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98" marR="90698" marT="45349" marB="4534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Mitigation Strategy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98" marR="90698" marT="45349" marB="45349" anchor="ctr"/>
                </a:tc>
                <a:extLst>
                  <a:ext uri="{0D108BD9-81ED-4DB2-BD59-A6C34878D82A}">
                    <a16:rowId xmlns:a16="http://schemas.microsoft.com/office/drawing/2014/main" val="4227790008"/>
                  </a:ext>
                </a:extLst>
              </a:tr>
              <a:tr h="8171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Surface Reconstruction Stability</a:t>
                      </a:r>
                    </a:p>
                  </a:txBody>
                  <a:tcPr marL="90698" marR="90698" marT="45349" marB="4534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Loss of switching efficiency over long-term exposure</a:t>
                      </a:r>
                    </a:p>
                  </a:txBody>
                  <a:tcPr marL="90698" marR="90698" marT="45349" marB="4534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Optimized graft density; controlled PDMS molecular weight; crosslinked acrylic stabilization</a:t>
                      </a:r>
                    </a:p>
                  </a:txBody>
                  <a:tcPr marL="90698" marR="90698" marT="45349" marB="45349" anchor="ctr"/>
                </a:tc>
                <a:extLst>
                  <a:ext uri="{0D108BD9-81ED-4DB2-BD59-A6C34878D82A}">
                    <a16:rowId xmlns:a16="http://schemas.microsoft.com/office/drawing/2014/main" val="3775967121"/>
                  </a:ext>
                </a:extLst>
              </a:tr>
              <a:tr h="6324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UV Degradation of Polymer Matrix</a:t>
                      </a:r>
                    </a:p>
                  </a:txBody>
                  <a:tcPr marL="90698" marR="90698" marT="45349" marB="4534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Chalking / performance decay in exterior exposure</a:t>
                      </a:r>
                    </a:p>
                  </a:txBody>
                  <a:tcPr marL="90698" marR="90698" marT="45349" marB="4534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HALS + UV absorber package; siloxane backbone improves UV resistance</a:t>
                      </a:r>
                    </a:p>
                  </a:txBody>
                  <a:tcPr marL="90698" marR="90698" marT="45349" marB="45349" anchor="ctr"/>
                </a:tc>
                <a:extLst>
                  <a:ext uri="{0D108BD9-81ED-4DB2-BD59-A6C34878D82A}">
                    <a16:rowId xmlns:a16="http://schemas.microsoft.com/office/drawing/2014/main" val="2118256046"/>
                  </a:ext>
                </a:extLst>
              </a:tr>
              <a:tr h="6324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Abrasion &amp; Scrub Resistance</a:t>
                      </a:r>
                    </a:p>
                  </a:txBody>
                  <a:tcPr marL="90698" marR="90698" marT="45349" marB="4534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Surface smoothing may reduce mechanical durability</a:t>
                      </a:r>
                    </a:p>
                  </a:txBody>
                  <a:tcPr marL="90698" marR="90698" marT="45349" marB="4534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Balanced PVC (35–45%); optimized binder-to-pigment ratio; ASTM scrub validation</a:t>
                      </a:r>
                    </a:p>
                  </a:txBody>
                  <a:tcPr marL="90698" marR="90698" marT="45349" marB="45349" anchor="ctr"/>
                </a:tc>
                <a:extLst>
                  <a:ext uri="{0D108BD9-81ED-4DB2-BD59-A6C34878D82A}">
                    <a16:rowId xmlns:a16="http://schemas.microsoft.com/office/drawing/2014/main" val="2297557959"/>
                  </a:ext>
                </a:extLst>
              </a:tr>
              <a:tr h="6324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Climate Variability (Humidity / Temperature)</a:t>
                      </a:r>
                    </a:p>
                  </a:txBody>
                  <a:tcPr marL="90698" marR="90698" marT="45349" marB="4534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Switching kinetics may vary across climates</a:t>
                      </a:r>
                    </a:p>
                  </a:txBody>
                  <a:tcPr marL="90698" marR="90698" marT="45349" marB="4534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Accelerated climate cycling tests; formulation tuning for humidity response</a:t>
                      </a:r>
                    </a:p>
                  </a:txBody>
                  <a:tcPr marL="90698" marR="90698" marT="45349" marB="45349" anchor="ctr"/>
                </a:tc>
                <a:extLst>
                  <a:ext uri="{0D108BD9-81ED-4DB2-BD59-A6C34878D82A}">
                    <a16:rowId xmlns:a16="http://schemas.microsoft.com/office/drawing/2014/main" val="321558575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955F10F-0F2F-2EAA-9377-2C024956F486}"/>
              </a:ext>
            </a:extLst>
          </p:cNvPr>
          <p:cNvSpPr txBox="1"/>
          <p:nvPr/>
        </p:nvSpPr>
        <p:spPr>
          <a:xfrm>
            <a:off x="891604" y="56370"/>
            <a:ext cx="4568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Challenges &amp; Mitigation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2B19EBFD-7360-0A80-0211-4E75B8797C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5803389"/>
              </p:ext>
            </p:extLst>
          </p:nvPr>
        </p:nvGraphicFramePr>
        <p:xfrm>
          <a:off x="5731259" y="566073"/>
          <a:ext cx="3196590" cy="21766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2E7FDD5C-B909-76C5-8996-F4E7DE022AE1}"/>
              </a:ext>
            </a:extLst>
          </p:cNvPr>
          <p:cNvSpPr txBox="1"/>
          <p:nvPr/>
        </p:nvSpPr>
        <p:spPr>
          <a:xfrm>
            <a:off x="141809" y="3695677"/>
            <a:ext cx="26265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Interior (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ASTM D2486)</a:t>
            </a:r>
          </a:p>
          <a:p>
            <a:pPr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Scrub resistance: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&gt;2000 scrub cycles</a:t>
            </a: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ghost staining</a:t>
            </a: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Repaint cycle: 5–7 years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D45BD8-1AE7-4726-3851-D9BC6FC8AF85}"/>
              </a:ext>
            </a:extLst>
          </p:cNvPr>
          <p:cNvSpPr txBox="1"/>
          <p:nvPr/>
        </p:nvSpPr>
        <p:spPr>
          <a:xfrm>
            <a:off x="2783799" y="3702689"/>
            <a:ext cx="270706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Exterior (ASTM G154 / Accelerated UV) </a:t>
            </a: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Anti-chalking</a:t>
            </a: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Reduced dirt pick-up</a:t>
            </a: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5–7 years service life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D5CE73E-5F4A-4C2B-20D4-30F4A7073924}"/>
              </a:ext>
            </a:extLst>
          </p:cNvPr>
          <p:cNvSpPr txBox="1"/>
          <p:nvPr/>
        </p:nvSpPr>
        <p:spPr>
          <a:xfrm>
            <a:off x="6497532" y="75693"/>
            <a:ext cx="2118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Durability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9CB3BE47-2678-276A-3BC9-6AE9CE035D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2565" y="2860675"/>
            <a:ext cx="3261306" cy="1932438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15D4FF7-98AD-FEA0-F417-54FC67D3D1DE}"/>
              </a:ext>
            </a:extLst>
          </p:cNvPr>
          <p:cNvSpPr txBox="1"/>
          <p:nvPr/>
        </p:nvSpPr>
        <p:spPr>
          <a:xfrm>
            <a:off x="-2697" y="4532493"/>
            <a:ext cx="55421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“Designed to match or exceed premium acrylic durability standards while delivering adaptive self-cleaning functionality.”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609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A8BBD01D-AB39-791A-F318-76193400D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ECA0C56E-3BA5-CCC9-FA02-2D3AAC7731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819DE3E8-2AE7-FCAF-E310-FA44D30666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70" name="Google Shape;70;p15" title="Submission Template-01.jpg">
            <a:extLst>
              <a:ext uri="{FF2B5EF4-FFF2-40B4-BE49-F238E27FC236}">
                <a16:creationId xmlns:a16="http://schemas.microsoft.com/office/drawing/2014/main" id="{CC90C20B-1F3F-6727-D234-EF68902C45C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495FD9-4F5E-5CF5-34F3-5899323FBE78}"/>
              </a:ext>
            </a:extLst>
          </p:cNvPr>
          <p:cNvSpPr txBox="1"/>
          <p:nvPr/>
        </p:nvSpPr>
        <p:spPr>
          <a:xfrm>
            <a:off x="2256264" y="93706"/>
            <a:ext cx="4631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Development &amp; Validation Plan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2B151B-5355-DBE3-ABDE-25579A2721FD}"/>
              </a:ext>
            </a:extLst>
          </p:cNvPr>
          <p:cNvSpPr txBox="1"/>
          <p:nvPr/>
        </p:nvSpPr>
        <p:spPr>
          <a:xfrm>
            <a:off x="353855" y="725090"/>
            <a:ext cx="304279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Facilities Required</a:t>
            </a:r>
          </a:p>
          <a:p>
            <a:pPr>
              <a:buNone/>
            </a:pPr>
            <a:endParaRPr lang="en-IN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Polymer &amp; Formulation Development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Jacketed glass reactor (70–80°C emulsion polymerization)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High-speed disperser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Lab-scale mixing tanks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Particle size </a:t>
            </a:r>
            <a:r>
              <a:rPr lang="en-IN" sz="1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analyzer</a:t>
            </a:r>
            <a:endParaRPr lang="en-IN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Characterization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Contact angle goniometer (dry/wet switching validation)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ASTM D2486 scrub tester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Gloss meter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QUV accelerated weathering chamber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Dirt pick-up resistance panel setup</a:t>
            </a:r>
          </a:p>
          <a:p>
            <a:endParaRPr lang="en-IN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&amp; Field Testing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Drawdown applicator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Spray / roller setup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Outdoor exposure racks (urban environment)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4E3A53-30FC-1448-2B57-8974169508A0}"/>
              </a:ext>
            </a:extLst>
          </p:cNvPr>
          <p:cNvSpPr txBox="1"/>
          <p:nvPr/>
        </p:nvSpPr>
        <p:spPr>
          <a:xfrm>
            <a:off x="4185436" y="1700274"/>
            <a:ext cx="214378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 (0–3 months)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Polymer synthesis optimization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Graft density tuning</a:t>
            </a: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 (3–6 months)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Coating formulation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Stain resistance validation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scrub testing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133AA67-DC1C-B54B-E9C2-F31719D6B9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921697"/>
              </p:ext>
            </p:extLst>
          </p:nvPr>
        </p:nvGraphicFramePr>
        <p:xfrm>
          <a:off x="4173244" y="3541124"/>
          <a:ext cx="4504866" cy="129540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397392">
                  <a:extLst>
                    <a:ext uri="{9D8B030D-6E8A-4147-A177-3AD203B41FA5}">
                      <a16:colId xmlns:a16="http://schemas.microsoft.com/office/drawing/2014/main" val="3669647209"/>
                    </a:ext>
                  </a:extLst>
                </a:gridCol>
                <a:gridCol w="3107474">
                  <a:extLst>
                    <a:ext uri="{9D8B030D-6E8A-4147-A177-3AD203B41FA5}">
                      <a16:colId xmlns:a16="http://schemas.microsoft.com/office/drawing/2014/main" val="38017222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Validation Area</a:t>
                      </a: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Method</a:t>
                      </a: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340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Scrub Resistance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ASTM D2486 scrub test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4196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UV Stability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QUV accelerated weathering (1000 hr cycle)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3502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Stain Resistance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Standardized stain panel + wipe protocol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7808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Dirt Pick-Up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Outdoor exposure &amp; reflectance change (ΔL*)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756399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BB9F284-19B1-2E2E-005B-BF883D97261A}"/>
              </a:ext>
            </a:extLst>
          </p:cNvPr>
          <p:cNvSpPr txBox="1"/>
          <p:nvPr/>
        </p:nvSpPr>
        <p:spPr>
          <a:xfrm>
            <a:off x="4742575" y="3248736"/>
            <a:ext cx="369636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Proof of Concept – Validation Methodology</a:t>
            </a:r>
            <a:endParaRPr lang="en-IN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24D9A660-E0E8-5BA1-6FE5-7D8749C2BC4E}"/>
              </a:ext>
            </a:extLst>
          </p:cNvPr>
          <p:cNvSpPr/>
          <p:nvPr/>
        </p:nvSpPr>
        <p:spPr>
          <a:xfrm>
            <a:off x="3647384" y="1123131"/>
            <a:ext cx="1434790" cy="442393"/>
          </a:xfrm>
          <a:prstGeom prst="chevron">
            <a:avLst/>
          </a:prstGeom>
          <a:solidFill>
            <a:schemeClr val="accent2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IN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1 </a:t>
            </a:r>
          </a:p>
          <a:p>
            <a:pPr algn="ctr">
              <a:buNone/>
            </a:pPr>
            <a:r>
              <a:rPr lang="en-IN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(0–3 months)</a:t>
            </a:r>
            <a:endParaRPr lang="en-IN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A3983705-1150-8063-4ECE-2F60F25377E2}"/>
              </a:ext>
            </a:extLst>
          </p:cNvPr>
          <p:cNvSpPr/>
          <p:nvPr/>
        </p:nvSpPr>
        <p:spPr>
          <a:xfrm>
            <a:off x="4943172" y="1125002"/>
            <a:ext cx="1434790" cy="442393"/>
          </a:xfrm>
          <a:prstGeom prst="chevron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IN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2 </a:t>
            </a:r>
          </a:p>
          <a:p>
            <a:pPr algn="ctr">
              <a:buNone/>
            </a:pPr>
            <a:r>
              <a:rPr lang="en-IN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(3–6 months)</a:t>
            </a:r>
            <a:endParaRPr lang="en-IN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82926FE2-434A-79A5-E945-D3E8A65A88E4}"/>
              </a:ext>
            </a:extLst>
          </p:cNvPr>
          <p:cNvSpPr/>
          <p:nvPr/>
        </p:nvSpPr>
        <p:spPr>
          <a:xfrm>
            <a:off x="6234271" y="1125001"/>
            <a:ext cx="1486271" cy="442393"/>
          </a:xfrm>
          <a:prstGeom prst="chevron">
            <a:avLst/>
          </a:prstGeom>
          <a:solidFill>
            <a:schemeClr val="accent2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IN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3</a:t>
            </a:r>
          </a:p>
          <a:p>
            <a:pPr algn="ctr">
              <a:buNone/>
            </a:pPr>
            <a:r>
              <a:rPr lang="en-IN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(6–12 months)</a:t>
            </a:r>
            <a:endParaRPr lang="en-IN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4EA54F48-2F35-49F9-9CD7-AF44E7BA7BB1}"/>
              </a:ext>
            </a:extLst>
          </p:cNvPr>
          <p:cNvSpPr/>
          <p:nvPr/>
        </p:nvSpPr>
        <p:spPr>
          <a:xfrm>
            <a:off x="7583616" y="1120050"/>
            <a:ext cx="1560384" cy="442393"/>
          </a:xfrm>
          <a:prstGeom prst="chevron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IN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4 </a:t>
            </a:r>
          </a:p>
          <a:p>
            <a:pPr algn="ctr">
              <a:buNone/>
            </a:pPr>
            <a:r>
              <a:rPr lang="en-IN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(12–18 months)</a:t>
            </a:r>
            <a:endParaRPr lang="en-IN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591DA7-E6F5-022B-660E-16B674CC4C69}"/>
              </a:ext>
            </a:extLst>
          </p:cNvPr>
          <p:cNvSpPr txBox="1"/>
          <p:nvPr/>
        </p:nvSpPr>
        <p:spPr>
          <a:xfrm>
            <a:off x="4648344" y="786821"/>
            <a:ext cx="4183956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Timeline (12–18 Months)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9AFE8E-9394-1758-6CDF-C5B9BCFC0AEA}"/>
              </a:ext>
            </a:extLst>
          </p:cNvPr>
          <p:cNvSpPr txBox="1"/>
          <p:nvPr/>
        </p:nvSpPr>
        <p:spPr>
          <a:xfrm>
            <a:off x="6590757" y="1644267"/>
            <a:ext cx="239739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 (6–12 months)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Accelerated UV &amp; climate cycling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 durability evaluation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4 (12–18 months)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Pilot batch scale-up 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 exposure 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benchmarking</a:t>
            </a:r>
            <a:endParaRPr lang="en-IN" sz="11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60309C5-B461-5C4E-1D60-9BCC76241D3A}"/>
              </a:ext>
            </a:extLst>
          </p:cNvPr>
          <p:cNvSpPr/>
          <p:nvPr/>
        </p:nvSpPr>
        <p:spPr>
          <a:xfrm>
            <a:off x="324120" y="1094598"/>
            <a:ext cx="3127109" cy="117441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1CDDDD-BE21-B6D3-A803-C39BD4BACB0F}"/>
              </a:ext>
            </a:extLst>
          </p:cNvPr>
          <p:cNvSpPr/>
          <p:nvPr/>
        </p:nvSpPr>
        <p:spPr>
          <a:xfrm>
            <a:off x="324120" y="2338957"/>
            <a:ext cx="3135211" cy="121542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6D45C2C-B503-E537-7D1A-C919DDE8D2FA}"/>
              </a:ext>
            </a:extLst>
          </p:cNvPr>
          <p:cNvSpPr/>
          <p:nvPr/>
        </p:nvSpPr>
        <p:spPr>
          <a:xfrm>
            <a:off x="324120" y="3598211"/>
            <a:ext cx="3135211" cy="93512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CFCE3B-5B1D-244C-4383-FE36D27D15CD}"/>
              </a:ext>
            </a:extLst>
          </p:cNvPr>
          <p:cNvSpPr txBox="1"/>
          <p:nvPr/>
        </p:nvSpPr>
        <p:spPr>
          <a:xfrm>
            <a:off x="179726" y="4605691"/>
            <a:ext cx="32796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“All facilities aligned with existing architectural paint R&amp;D infrastructure.”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305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AE335D39-8F43-D61B-7603-882C42994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344B7BC8-E1C5-7A40-710D-C084922449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86316E82-1124-31E1-E21A-0A51423572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70" name="Google Shape;70;p15" title="Submission Template-01.jpg">
            <a:extLst>
              <a:ext uri="{FF2B5EF4-FFF2-40B4-BE49-F238E27FC236}">
                <a16:creationId xmlns:a16="http://schemas.microsoft.com/office/drawing/2014/main" id="{19E69F81-8573-9840-4DD0-8C183E18263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CEA0AD-B6D2-EA23-3365-C60E145E1628}"/>
              </a:ext>
            </a:extLst>
          </p:cNvPr>
          <p:cNvSpPr txBox="1"/>
          <p:nvPr/>
        </p:nvSpPr>
        <p:spPr>
          <a:xfrm>
            <a:off x="2664683" y="99471"/>
            <a:ext cx="381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Strategy (Lab → Bulk)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95AD5A-A66C-207D-5929-73B079CB2D35}"/>
              </a:ext>
            </a:extLst>
          </p:cNvPr>
          <p:cNvSpPr txBox="1"/>
          <p:nvPr/>
        </p:nvSpPr>
        <p:spPr>
          <a:xfrm>
            <a:off x="556957" y="2860675"/>
            <a:ext cx="3051717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Compatibility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Water-based emulsion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fluorochemicals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nano-texturing or exotic curing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Compatible with standard high-speed dispersers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existing pigment/filler supply chain</a:t>
            </a:r>
          </a:p>
          <a:p>
            <a:pPr>
              <a:buNone/>
            </a:pP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FCD9EF-6CBD-691E-0112-45A92E0E7FC5}"/>
              </a:ext>
            </a:extLst>
          </p:cNvPr>
          <p:cNvSpPr txBox="1"/>
          <p:nvPr/>
        </p:nvSpPr>
        <p:spPr>
          <a:xfrm>
            <a:off x="5605348" y="2501120"/>
            <a:ext cx="46314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Scale-Up Risks &amp; Controls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9AD50AD-029B-6497-9FD5-5FDD2B0AAC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844062"/>
              </p:ext>
            </p:extLst>
          </p:nvPr>
        </p:nvGraphicFramePr>
        <p:xfrm>
          <a:off x="4706023" y="2860675"/>
          <a:ext cx="4170826" cy="134112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085413">
                  <a:extLst>
                    <a:ext uri="{9D8B030D-6E8A-4147-A177-3AD203B41FA5}">
                      <a16:colId xmlns:a16="http://schemas.microsoft.com/office/drawing/2014/main" val="2432451784"/>
                    </a:ext>
                  </a:extLst>
                </a:gridCol>
                <a:gridCol w="2085413">
                  <a:extLst>
                    <a:ext uri="{9D8B030D-6E8A-4147-A177-3AD203B41FA5}">
                      <a16:colId xmlns:a16="http://schemas.microsoft.com/office/drawing/2014/main" val="2908874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Scale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 Strategy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7383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Particle size variation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Controlled monomer feed 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845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Graft uniformity issues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In-process QC monitoring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8986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Batch viscosity variation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 rheology adjustment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9964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 instability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Accelerated stability testing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7064967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D972DDA0-093A-395F-1887-94401AD7F4D9}"/>
              </a:ext>
            </a:extLst>
          </p:cNvPr>
          <p:cNvSpPr/>
          <p:nvPr/>
        </p:nvSpPr>
        <p:spPr>
          <a:xfrm>
            <a:off x="202583" y="761637"/>
            <a:ext cx="2784087" cy="1402225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A54983-8562-39C6-CA22-996818153F53}"/>
              </a:ext>
            </a:extLst>
          </p:cNvPr>
          <p:cNvSpPr/>
          <p:nvPr/>
        </p:nvSpPr>
        <p:spPr>
          <a:xfrm>
            <a:off x="3177640" y="761637"/>
            <a:ext cx="2784087" cy="1402225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9C4553-B95E-401D-11C7-3BCA1DC9469E}"/>
              </a:ext>
            </a:extLst>
          </p:cNvPr>
          <p:cNvSpPr/>
          <p:nvPr/>
        </p:nvSpPr>
        <p:spPr>
          <a:xfrm>
            <a:off x="6117577" y="771960"/>
            <a:ext cx="2784087" cy="1402225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2C91D4-7865-14A6-63F3-9E22AB14F123}"/>
              </a:ext>
            </a:extLst>
          </p:cNvPr>
          <p:cNvSpPr txBox="1"/>
          <p:nvPr/>
        </p:nvSpPr>
        <p:spPr>
          <a:xfrm>
            <a:off x="390342" y="1046118"/>
            <a:ext cx="27745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Scale (1–5 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Polymer synthesis 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 mechanism optimization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coating formulation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505048-E0FD-7608-4DE0-8AF7378624AA}"/>
              </a:ext>
            </a:extLst>
          </p:cNvPr>
          <p:cNvSpPr txBox="1"/>
          <p:nvPr/>
        </p:nvSpPr>
        <p:spPr>
          <a:xfrm>
            <a:off x="3352622" y="953784"/>
            <a:ext cx="25480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Pilot Scale (50–100 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reproducibility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Graft density consistency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Pigment dispersion uniformity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Stability evaluation (shelf life)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812194-B4B7-7CCA-F0EA-2A8177DE7323}"/>
              </a:ext>
            </a:extLst>
          </p:cNvPr>
          <p:cNvSpPr txBox="1"/>
          <p:nvPr/>
        </p:nvSpPr>
        <p:spPr>
          <a:xfrm>
            <a:off x="6197108" y="952075"/>
            <a:ext cx="303599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Commercial Scale (1000+ 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architectural paint plant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Let-down stage additive incorporation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new reactor design required</a:t>
            </a:r>
            <a:endParaRPr lang="en-IN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057514-A882-E221-DD81-6A4080B153BB}"/>
              </a:ext>
            </a:extLst>
          </p:cNvPr>
          <p:cNvSpPr txBox="1"/>
          <p:nvPr/>
        </p:nvSpPr>
        <p:spPr>
          <a:xfrm>
            <a:off x="195220" y="477638"/>
            <a:ext cx="53414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Scale-Up Pathway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1461F8-F440-162E-69BE-02D23C59E65F}"/>
              </a:ext>
            </a:extLst>
          </p:cNvPr>
          <p:cNvSpPr txBox="1"/>
          <p:nvPr/>
        </p:nvSpPr>
        <p:spPr>
          <a:xfrm>
            <a:off x="1093890" y="4544586"/>
            <a:ext cx="77035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“Fully compatible with conventional architectural paint manufacturing infrastructure.”</a:t>
            </a:r>
            <a:endParaRPr lang="en-IN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A1B8597-68B6-1FB3-CFA8-A690A985DBB4}"/>
              </a:ext>
            </a:extLst>
          </p:cNvPr>
          <p:cNvSpPr/>
          <p:nvPr/>
        </p:nvSpPr>
        <p:spPr>
          <a:xfrm>
            <a:off x="390342" y="2686814"/>
            <a:ext cx="3148312" cy="162975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813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AEE2EF30-0EF4-BC3D-4493-53204D630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1FDCE158-9247-C829-809A-2CA95989442F}"/>
              </a:ext>
            </a:extLst>
          </p:cNvPr>
          <p:cNvSpPr/>
          <p:nvPr/>
        </p:nvSpPr>
        <p:spPr>
          <a:xfrm>
            <a:off x="3313903" y="654900"/>
            <a:ext cx="2625710" cy="28483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60B36F74-954F-68AA-545A-8AAC520EE7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A0D3B2AD-DAEC-745E-3C78-8748299F12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70" name="Google Shape;70;p15" title="Submission Template-01.jpg">
            <a:extLst>
              <a:ext uri="{FF2B5EF4-FFF2-40B4-BE49-F238E27FC236}">
                <a16:creationId xmlns:a16="http://schemas.microsoft.com/office/drawing/2014/main" id="{5982B4D9-72C1-A8C5-FB60-5D6470ED7A9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285066-3D2F-63A9-3592-D1F5B3BBDF77}"/>
              </a:ext>
            </a:extLst>
          </p:cNvPr>
          <p:cNvSpPr txBox="1"/>
          <p:nvPr/>
        </p:nvSpPr>
        <p:spPr>
          <a:xfrm>
            <a:off x="2986817" y="133125"/>
            <a:ext cx="46314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Case &amp; Market Feasibility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6C067A-400F-E760-377D-CAC9D9F0A80B}"/>
              </a:ext>
            </a:extLst>
          </p:cNvPr>
          <p:cNvSpPr txBox="1"/>
          <p:nvPr/>
        </p:nvSpPr>
        <p:spPr>
          <a:xfrm>
            <a:off x="342358" y="931647"/>
            <a:ext cx="2991182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Segment (Entry Strategy)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Premium interior easy-clean paints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exterior coatings (pollution-heavy cities)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Hospitals, schools, airports, metro stations, 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Smart city infrastructure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36A70B-272D-962A-37C4-79ACA7A1829D}"/>
              </a:ext>
            </a:extLst>
          </p:cNvPr>
          <p:cNvSpPr txBox="1"/>
          <p:nvPr/>
        </p:nvSpPr>
        <p:spPr>
          <a:xfrm>
            <a:off x="3360318" y="2567938"/>
            <a:ext cx="3482897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Pricing Strategy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10–15% above premium acrylic segment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Positioned as performance-enhanced coating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1B9722-B58D-0568-F730-7CB503EEE037}"/>
              </a:ext>
            </a:extLst>
          </p:cNvPr>
          <p:cNvSpPr txBox="1"/>
          <p:nvPr/>
        </p:nvSpPr>
        <p:spPr>
          <a:xfrm>
            <a:off x="3161239" y="3909922"/>
            <a:ext cx="32227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cleaning frequency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long-term maintenance cost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Extended repaint cycle (5–7 years)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Fluorine-free sustainability advantage</a:t>
            </a: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650730D9-608B-1046-EBC4-60803E68697D}"/>
              </a:ext>
            </a:extLst>
          </p:cNvPr>
          <p:cNvSpPr/>
          <p:nvPr/>
        </p:nvSpPr>
        <p:spPr>
          <a:xfrm>
            <a:off x="311700" y="639338"/>
            <a:ext cx="8594407" cy="1193604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E53DDD-7834-0809-976B-0F32ED5A03A4}"/>
              </a:ext>
            </a:extLst>
          </p:cNvPr>
          <p:cNvSpPr txBox="1"/>
          <p:nvPr/>
        </p:nvSpPr>
        <p:spPr>
          <a:xfrm>
            <a:off x="6383940" y="1070852"/>
            <a:ext cx="243176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“Positioned within premium architectural coatings with adaptive easy-clean advantage.”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2AA6FA-D57D-61FE-12A1-633C00C4A03D}"/>
              </a:ext>
            </a:extLst>
          </p:cNvPr>
          <p:cNvSpPr txBox="1"/>
          <p:nvPr/>
        </p:nvSpPr>
        <p:spPr>
          <a:xfrm>
            <a:off x="3482759" y="647820"/>
            <a:ext cx="2324230" cy="30777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Market &amp; Customer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31122D-C428-AA1F-89E8-1F51355DC2FC}"/>
              </a:ext>
            </a:extLst>
          </p:cNvPr>
          <p:cNvSpPr txBox="1"/>
          <p:nvPr/>
        </p:nvSpPr>
        <p:spPr>
          <a:xfrm>
            <a:off x="3482759" y="981429"/>
            <a:ext cx="467979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Premium First?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already pay for washability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perception is higher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margin absorption</a:t>
            </a:r>
          </a:p>
        </p:txBody>
      </p:sp>
      <p:sp>
        <p:nvSpPr>
          <p:cNvPr id="17" name="Flowchart: Process 16">
            <a:extLst>
              <a:ext uri="{FF2B5EF4-FFF2-40B4-BE49-F238E27FC236}">
                <a16:creationId xmlns:a16="http://schemas.microsoft.com/office/drawing/2014/main" id="{75435F92-6E9D-8519-45F6-BB53E9C3D015}"/>
              </a:ext>
            </a:extLst>
          </p:cNvPr>
          <p:cNvSpPr/>
          <p:nvPr/>
        </p:nvSpPr>
        <p:spPr>
          <a:xfrm>
            <a:off x="311699" y="1997125"/>
            <a:ext cx="8594407" cy="1362992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Flowchart: Process 17">
            <a:extLst>
              <a:ext uri="{FF2B5EF4-FFF2-40B4-BE49-F238E27FC236}">
                <a16:creationId xmlns:a16="http://schemas.microsoft.com/office/drawing/2014/main" id="{7B3B44D0-C42C-7E53-148A-9D1E36316596}"/>
              </a:ext>
            </a:extLst>
          </p:cNvPr>
          <p:cNvSpPr/>
          <p:nvPr/>
        </p:nvSpPr>
        <p:spPr>
          <a:xfrm>
            <a:off x="300745" y="3486876"/>
            <a:ext cx="8594407" cy="141037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D938E3-501D-2A8F-A9F4-CBF07A90E3FE}"/>
              </a:ext>
            </a:extLst>
          </p:cNvPr>
          <p:cNvSpPr txBox="1"/>
          <p:nvPr/>
        </p:nvSpPr>
        <p:spPr>
          <a:xfrm>
            <a:off x="3401548" y="1999336"/>
            <a:ext cx="2538065" cy="30777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&amp; Feasibility Cost Impact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0392E9-8F10-14C7-F1A7-F352B160219F}"/>
              </a:ext>
            </a:extLst>
          </p:cNvPr>
          <p:cNvSpPr txBox="1"/>
          <p:nvPr/>
        </p:nvSpPr>
        <p:spPr>
          <a:xfrm>
            <a:off x="411018" y="2401677"/>
            <a:ext cx="467979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Slight binder cost increase (~5–10%)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additional plant CAPEX required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existing manufacturing infrastructure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pigment &amp; filler supply chain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4155C4-DCB8-69B8-8AB6-5356B8A82D9B}"/>
              </a:ext>
            </a:extLst>
          </p:cNvPr>
          <p:cNvSpPr txBox="1"/>
          <p:nvPr/>
        </p:nvSpPr>
        <p:spPr>
          <a:xfrm>
            <a:off x="2585716" y="3500299"/>
            <a:ext cx="4369288" cy="30777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Proposition &amp; Competitive Edge For Customers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590363-5133-E00A-AE43-ECA17F9E52FF}"/>
              </a:ext>
            </a:extLst>
          </p:cNvPr>
          <p:cNvSpPr txBox="1"/>
          <p:nvPr/>
        </p:nvSpPr>
        <p:spPr>
          <a:xfrm>
            <a:off x="6496342" y="3978052"/>
            <a:ext cx="217484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Manufacturer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Incremental margin expansion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major R&amp;D infrastructure shift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Premium product differentiation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9505CA0-5C0E-1043-4277-06880117CB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940" y="682103"/>
            <a:ext cx="2270255" cy="632919"/>
          </a:xfrm>
          <a:prstGeom prst="rect">
            <a:avLst/>
          </a:prstGeom>
        </p:spPr>
      </p:pic>
      <p:graphicFrame>
        <p:nvGraphicFramePr>
          <p:cNvPr id="35" name="Chart 34">
            <a:extLst>
              <a:ext uri="{FF2B5EF4-FFF2-40B4-BE49-F238E27FC236}">
                <a16:creationId xmlns:a16="http://schemas.microsoft.com/office/drawing/2014/main" id="{F0F3CFBA-6A7D-68F8-BB50-5A957AA848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7517949"/>
              </p:ext>
            </p:extLst>
          </p:nvPr>
        </p:nvGraphicFramePr>
        <p:xfrm>
          <a:off x="6203992" y="2234967"/>
          <a:ext cx="2691160" cy="10727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E384E60C-D3E0-C96F-0EB7-B3D447203F86}"/>
              </a:ext>
            </a:extLst>
          </p:cNvPr>
          <p:cNvSpPr txBox="1"/>
          <p:nvPr/>
        </p:nvSpPr>
        <p:spPr>
          <a:xfrm>
            <a:off x="6843215" y="2032121"/>
            <a:ext cx="1752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~25% Lower Lifecycle Cost</a:t>
            </a:r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0690AEC6-07CA-5FC7-90B8-8DF54B085F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960695"/>
              </p:ext>
            </p:extLst>
          </p:nvPr>
        </p:nvGraphicFramePr>
        <p:xfrm>
          <a:off x="357501" y="3586114"/>
          <a:ext cx="2154408" cy="12910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77913725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1504</Words>
  <Application>Microsoft Office PowerPoint</Application>
  <PresentationFormat>On-screen Show (16:9)</PresentationFormat>
  <Paragraphs>293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Courier New</vt:lpstr>
      <vt:lpstr>Times New Roman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jayam</dc:creator>
  <cp:lastModifiedBy>Jaya Mani Sree</cp:lastModifiedBy>
  <cp:revision>2</cp:revision>
  <dcterms:modified xsi:type="dcterms:W3CDTF">2026-02-22T18:26:14Z</dcterms:modified>
</cp:coreProperties>
</file>